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B8C"/>
                </a:solidFill>
                <a:latin typeface="Arial"/>
              </a:defRPr>
            </a:pPr>
            <a:r>
              <a:rPr sz="1200" b="0" i="0" u="none" strike="noStrike">
                <a:solidFill>
                  <a:srgbClr val="5B6B8C"/>
                </a:solidFill>
                <a:latin typeface="Arial"/>
              </a:rPr>
              <a:t>Illustrative target shape — raw vs. piecewise-capped RUL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Raw RUL (uncapped)</c:v>
                </c:pt>
              </c:strCache>
            </c:strRef>
          </c:tx>
          <c:spPr>
            <a:solidFill>
              <a:srgbClr val="5B6B8C"/>
            </a:solidFill>
            <a:ln w="38100" cap="flat">
              <a:solidFill>
                <a:srgbClr val="5B6B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63247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B6B8C"/>
              </a:solidFill>
              <a:ln w="9525" cap="flat">
                <a:solidFill>
                  <a:srgbClr val="5B6B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</c:v>
                  </c:pt>
                  <c:pt idx="1">
                    <c:v>25</c:v>
                  </c:pt>
                  <c:pt idx="2">
                    <c:v>50</c:v>
                  </c:pt>
                  <c:pt idx="3">
                    <c:v>75</c:v>
                  </c:pt>
                  <c:pt idx="4">
                    <c:v>100</c:v>
                  </c:pt>
                  <c:pt idx="5">
                    <c:v>125</c:v>
                  </c:pt>
                  <c:pt idx="6">
                    <c:v>150</c:v>
                  </c:pt>
                  <c:pt idx="7">
                    <c:v>175</c:v>
                  </c:pt>
                  <c:pt idx="8">
                    <c:v>200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280</c:v>
                </c:pt>
                <c:pt idx="1">
                  <c:v>245</c:v>
                </c:pt>
                <c:pt idx="2">
                  <c:v>210</c:v>
                </c:pt>
                <c:pt idx="3">
                  <c:v>175</c:v>
                </c:pt>
                <c:pt idx="4">
                  <c:v>140</c:v>
                </c:pt>
                <c:pt idx="5">
                  <c:v>105</c:v>
                </c:pt>
                <c:pt idx="6">
                  <c:v>70</c:v>
                </c:pt>
                <c:pt idx="7">
                  <c:v>35</c:v>
                </c:pt>
                <c:pt idx="8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Piecewise-Capped RUL</c:v>
                </c:pt>
              </c:strCache>
            </c:strRef>
          </c:tx>
          <c:spPr>
            <a:solidFill>
              <a:srgbClr val="E8743B"/>
            </a:solidFill>
            <a:ln w="38100" cap="flat">
              <a:solidFill>
                <a:srgbClr val="E874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63247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743B"/>
              </a:solidFill>
              <a:ln w="9525" cap="flat">
                <a:solidFill>
                  <a:srgbClr val="E874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</c:v>
                  </c:pt>
                  <c:pt idx="1">
                    <c:v>25</c:v>
                  </c:pt>
                  <c:pt idx="2">
                    <c:v>50</c:v>
                  </c:pt>
                  <c:pt idx="3">
                    <c:v>75</c:v>
                  </c:pt>
                  <c:pt idx="4">
                    <c:v>100</c:v>
                  </c:pt>
                  <c:pt idx="5">
                    <c:v>125</c:v>
                  </c:pt>
                  <c:pt idx="6">
                    <c:v>150</c:v>
                  </c:pt>
                  <c:pt idx="7">
                    <c:v>175</c:v>
                  </c:pt>
                  <c:pt idx="8">
                    <c:v>200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125</c:v>
                </c:pt>
                <c:pt idx="1">
                  <c:v>125</c:v>
                </c:pt>
                <c:pt idx="2">
                  <c:v>125</c:v>
                </c:pt>
                <c:pt idx="3">
                  <c:v>125</c:v>
                </c:pt>
                <c:pt idx="4">
                  <c:v>125</c:v>
                </c:pt>
                <c:pt idx="5">
                  <c:v>105</c:v>
                </c:pt>
                <c:pt idx="6">
                  <c:v>70</c:v>
                </c:pt>
                <c:pt idx="7">
                  <c:v>35</c:v>
                </c:pt>
                <c:pt idx="8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63247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Cycle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RUL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B8C"/>
                </a:solidFill>
                <a:latin typeface="Arial"/>
              </a:defRPr>
            </a:pPr>
            <a:r>
              <a:rPr sz="1200" b="0" i="0" u="none" strike="noStrike">
                <a:solidFill>
                  <a:srgbClr val="5B6B8C"/>
                </a:solidFill>
                <a:latin typeface="Arial"/>
              </a:rPr>
              <a:t>Illustrative degradation pattern — Engine Unit #5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Stress-indicator sensor trend</c:v>
                </c:pt>
              </c:strCache>
            </c:strRef>
          </c:tx>
          <c:spPr>
            <a:solidFill>
              <a:srgbClr val="E8743B"/>
            </a:solidFill>
            <a:ln w="38100" cap="flat">
              <a:solidFill>
                <a:srgbClr val="E874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743B"/>
              </a:solidFill>
              <a:ln w="9525" cap="flat">
                <a:solidFill>
                  <a:srgbClr val="E874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20</c:v>
                  </c:pt>
                  <c:pt idx="2">
                    <c:v>40</c:v>
                  </c:pt>
                  <c:pt idx="3">
                    <c:v>60</c:v>
                  </c:pt>
                  <c:pt idx="4">
                    <c:v>80</c:v>
                  </c:pt>
                  <c:pt idx="5">
                    <c:v>100</c:v>
                  </c:pt>
                  <c:pt idx="6">
                    <c:v>120</c:v>
                  </c:pt>
                  <c:pt idx="7">
                    <c:v>140</c:v>
                  </c:pt>
                  <c:pt idx="8">
                    <c:v>160</c:v>
                  </c:pt>
                  <c:pt idx="9">
                    <c:v>180</c:v>
                  </c:pt>
                  <c:pt idx="10">
                    <c:v>200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</c:v>
                </c:pt>
                <c:pt idx="1">
                  <c:v>3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8</c:v>
                </c:pt>
                <c:pt idx="6">
                  <c:v>16</c:v>
                </c:pt>
                <c:pt idx="7">
                  <c:v>28</c:v>
                </c:pt>
                <c:pt idx="8">
                  <c:v>44</c:v>
                </c:pt>
                <c:pt idx="9">
                  <c:v>63</c:v>
                </c:pt>
                <c:pt idx="10">
                  <c:v>85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Operating Cycle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Relative Sensor Drift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10058400" y="50292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14884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Maintenance for Turbofan Engines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914400" y="35204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Reactive Repairs to Real-Time Remaining Useful Life Forecasting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914400" y="41148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C-MAPSS FD001  ·  Random Forest RUL Estimator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554480" y="5532120"/>
            <a:ext cx="548640" cy="5486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5660136"/>
            <a:ext cx="292608" cy="29260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726180" y="5532120"/>
            <a:ext cx="548640" cy="5486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4196" y="5660136"/>
            <a:ext cx="292608" cy="292608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897880" y="5532120"/>
            <a:ext cx="548640" cy="5486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5896" y="5660136"/>
            <a:ext cx="292608" cy="292608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8069580" y="5532120"/>
            <a:ext cx="548640" cy="5486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7596" y="5660136"/>
            <a:ext cx="292608" cy="292608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10241280" y="5532120"/>
            <a:ext cx="548640" cy="5486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9296" y="5660136"/>
            <a:ext cx="292608" cy="29260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14400" y="63550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Samson Mayomi Matthew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30936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384048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Cost of Not Knowing When an Engine Will Fail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3383280" cy="3611880"/>
          </a:xfrm>
          <a:prstGeom prst="roundRect">
            <a:avLst>
              <a:gd name="adj" fmla="val 2162"/>
            </a:avLst>
          </a:prstGeom>
          <a:solidFill>
            <a:srgbClr val="F0F4FC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828800" y="20116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112" y="2221992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3017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822960" y="34747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6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it after it breaks.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77240" y="44348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catastrophic in-flight failure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389120" y="1691640"/>
            <a:ext cx="3383280" cy="3611880"/>
          </a:xfrm>
          <a:prstGeom prst="roundRect">
            <a:avLst>
              <a:gd name="adj" fmla="val 2162"/>
            </a:avLst>
          </a:prstGeom>
          <a:solidFill>
            <a:srgbClr val="F0F4FC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669280" y="20116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2" y="222199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72000" y="3017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SCHEDULED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4663440" y="34747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6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on a fixed calendar.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617720" y="44348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wasted usable engine life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229600" y="1691640"/>
            <a:ext cx="3383280" cy="3611880"/>
          </a:xfrm>
          <a:prstGeom prst="roundRect">
            <a:avLst>
              <a:gd name="adj" fmla="val 2162"/>
            </a:avLst>
          </a:prstGeom>
          <a:solidFill>
            <a:srgbClr val="FDEEE5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509760" y="2011680"/>
            <a:ext cx="822960" cy="82296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0072" y="2221992"/>
            <a:ext cx="402336" cy="40233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412480" y="3017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7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8503920" y="34747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6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when the data says to.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8458200" y="44348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Requires: a reliable RUL estimate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48640" y="553212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</p:sp>
      <p:sp>
        <p:nvSpPr>
          <p:cNvPr id="24" name="Text 18"/>
          <p:cNvSpPr/>
          <p:nvPr/>
        </p:nvSpPr>
        <p:spPr>
          <a:xfrm>
            <a:off x="822960" y="55321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missing input across all three models: a reliable, data-driven RUL estimate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TURBOFAN RUL · NASA C-MAPSS FD001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30936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384048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Objective: A Data-Driven RUL Estimator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6492240" cy="3977640"/>
          </a:xfrm>
          <a:prstGeom prst="roundRect">
            <a:avLst>
              <a:gd name="adj" fmla="val 1839"/>
            </a:avLst>
          </a:prstGeom>
          <a:solidFill>
            <a:srgbClr val="F0F4FC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60120" y="1965960"/>
            <a:ext cx="5669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 Remaining Useful Life — in cycles — for a turbofan engine at any point in its operating history, using only its own sensor telemetry.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960120" y="44348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sensor telemetry at cycle t   →   Output: predicted cycles to failure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0" y="1691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THIS PROOF OF CONCEPT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0" y="2148840"/>
            <a:ext cx="38404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98080" y="2478024"/>
            <a:ext cx="182880" cy="182880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11" name="Text 8"/>
          <p:cNvSpPr/>
          <p:nvPr/>
        </p:nvSpPr>
        <p:spPr>
          <a:xfrm>
            <a:off x="7818120" y="2240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818120" y="25328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FD001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315200" y="3191256"/>
            <a:ext cx="38404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498080" y="3520440"/>
            <a:ext cx="182880" cy="182880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15" name="Text 12"/>
          <p:cNvSpPr/>
          <p:nvPr/>
        </p:nvSpPr>
        <p:spPr>
          <a:xfrm>
            <a:off x="7818120" y="328269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818120" y="35753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Sea-level, single regime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315200" y="4233672"/>
            <a:ext cx="38404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498080" y="4562856"/>
            <a:ext cx="182880" cy="182880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19" name="Text 16"/>
          <p:cNvSpPr/>
          <p:nvPr/>
        </p:nvSpPr>
        <p:spPr>
          <a:xfrm>
            <a:off x="7818120" y="43251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7818120" y="4617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operating condition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315200" y="5276088"/>
            <a:ext cx="38404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498080" y="5605272"/>
            <a:ext cx="182880" cy="182880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23" name="Text 20"/>
          <p:cNvSpPr/>
          <p:nvPr/>
        </p:nvSpPr>
        <p:spPr>
          <a:xfrm>
            <a:off x="7818120" y="53675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Mode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818120" y="56601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dominant fault path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TURBOFAN RUL · NASA C-MAPSS FD001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30936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384048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NASA C-MAPSS FD001: Multivariate Run-to-Failure Telemetry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F0F4FC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1801368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87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77240" y="2606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Engines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29077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20,631 records · run-to-failure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89120" y="169164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F0F4FC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617720" y="1801368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87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4617720" y="2606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Engines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617720" y="29077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13,096 records · truncated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229600" y="169164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F0F4FC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458200" y="1801368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87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4400" dirty="0"/>
          </a:p>
        </p:txBody>
      </p:sp>
      <p:sp>
        <p:nvSpPr>
          <p:cNvPr id="15" name="Text 12"/>
          <p:cNvSpPr/>
          <p:nvPr/>
        </p:nvSpPr>
        <p:spPr>
          <a:xfrm>
            <a:off x="8458200" y="2606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Input Channels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458200" y="29077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sensors + 3 operating settings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20440"/>
          <a:ext cx="11064240" cy="1051560"/>
        </p:xfrm>
        <a:graphic>
          <a:graphicData uri="http://schemas.openxmlformats.org/drawingml/2006/table">
            <a:tbl>
              <a:tblPr/>
              <a:tblGrid>
                <a:gridCol w="82296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640080"/>
                <a:gridCol w="1417320"/>
              </a:tblGrid>
              <a:tr h="350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unit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time_cycles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op_set_1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op_set_2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op_set_3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sensor_1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sensor_2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…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sensor_21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3247"/>
                          </a:solidFill>
                        </a:rPr>
                        <a:t>1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3247"/>
                          </a:solidFill>
                        </a:rPr>
                        <a:t>1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3247"/>
                          </a:solidFill>
                        </a:rPr>
                        <a:t>-0.0007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3247"/>
                          </a:solidFill>
                        </a:rPr>
                        <a:t>-0.0004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3247"/>
                          </a:solidFill>
                        </a:rPr>
                        <a:t>100.0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3247"/>
                          </a:solidFill>
                        </a:rPr>
                        <a:t>518.67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3247"/>
                          </a:solidFill>
                        </a:rPr>
                        <a:t>641.82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3247"/>
                          </a:solidFill>
                        </a:rPr>
                        <a:t>…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3247"/>
                          </a:solidFill>
                        </a:rPr>
                        <a:t>23.4190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3247"/>
                          </a:solidFill>
                        </a:rPr>
                        <a:t>1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3247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3247"/>
                          </a:solidFill>
                        </a:rPr>
                        <a:t>0.0019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3247"/>
                          </a:solidFill>
                        </a:rPr>
                        <a:t>-0.0003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3247"/>
                          </a:solidFill>
                        </a:rPr>
                        <a:t>100.0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3247"/>
                          </a:solidFill>
                        </a:rPr>
                        <a:t>518.67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3247"/>
                          </a:solidFill>
                        </a:rPr>
                        <a:t>642.15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3247"/>
                          </a:solidFill>
                        </a:rPr>
                        <a:t>…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63247"/>
                          </a:solidFill>
                        </a:rPr>
                        <a:t>23.4236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C"/>
                    </a:solidFill>
                  </a:tcPr>
                </a:tc>
              </a:tr>
            </a:tbl>
          </a:graphicData>
        </a:graphic>
      </p:graphicFrame>
      <p:sp>
        <p:nvSpPr>
          <p:cNvPr id="18" name="Shape 14"/>
          <p:cNvSpPr/>
          <p:nvPr/>
        </p:nvSpPr>
        <p:spPr>
          <a:xfrm>
            <a:off x="548640" y="48463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0F4FC"/>
          </a:solidFill>
          <a:ln/>
        </p:spPr>
      </p:sp>
      <p:sp>
        <p:nvSpPr>
          <p:cNvPr id="19" name="Text 15"/>
          <p:cNvSpPr/>
          <p:nvPr/>
        </p:nvSpPr>
        <p:spPr>
          <a:xfrm>
            <a:off x="868680" y="48463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pPr indent="0" marL="0">
              <a:buNone/>
            </a:pPr>
            <a:r>
              <a:rPr lang="en-US" sz="1300" dirty="0">
                <a:solidFill>
                  <a:srgbClr val="26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full run-to-failure history through final cycle      </a:t>
            </a:r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pPr indent="0" marL="0">
              <a:buNone/>
            </a:pPr>
            <a:r>
              <a:rPr lang="en-US" sz="1300" dirty="0">
                <a:solidFill>
                  <a:srgbClr val="26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truncated before failure, true RUL supplied via ground-truth vector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TURBOFAN RUL · NASA C-MAPSS FD001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30936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384048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One: Removing Signals That Carry No Information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3749040" cy="3520440"/>
          </a:xfrm>
          <a:prstGeom prst="roundRect">
            <a:avLst>
              <a:gd name="adj" fmla="val 2078"/>
            </a:avLst>
          </a:prstGeom>
          <a:solidFill>
            <a:srgbClr val="F0F4FC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22860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pPr algn="ctr" indent="0" marL="0">
              <a:buNone/>
            </a:pPr>
            <a:r>
              <a:rPr lang="en-US" sz="3400" b="1" dirty="0">
                <a:solidFill>
                  <a:srgbClr val="5B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</a:t>
            </a:r>
            <a:pPr algn="ctr" indent="0" marL="0">
              <a:buNone/>
            </a:pPr>
            <a:r>
              <a:rPr lang="en-US" sz="5200" b="1" dirty="0">
                <a:solidFill>
                  <a:srgbClr val="E87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868680" y="36118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features remaining after variance screening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4343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operating settings + 14 live sensors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17720" y="1783080"/>
            <a:ext cx="3063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00600" y="1783080"/>
            <a:ext cx="2057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op_setting_3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812280" y="1783080"/>
            <a:ext cx="777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0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17720" y="2715768"/>
            <a:ext cx="3063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800600" y="2715768"/>
            <a:ext cx="2057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sensor_1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812280" y="2715768"/>
            <a:ext cx="777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0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17720" y="3648456"/>
            <a:ext cx="3063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800600" y="3648456"/>
            <a:ext cx="2057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sensor_5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812280" y="3648456"/>
            <a:ext cx="777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0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617720" y="4581144"/>
            <a:ext cx="3063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800600" y="4581144"/>
            <a:ext cx="2057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sensor_6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812280" y="4581144"/>
            <a:ext cx="777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0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909560" y="1783080"/>
            <a:ext cx="3063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092440" y="1783080"/>
            <a:ext cx="2057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sensor_10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10104120" y="1783080"/>
            <a:ext cx="777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0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909560" y="2715768"/>
            <a:ext cx="3063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8092440" y="2715768"/>
            <a:ext cx="2057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sensor_16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10104120" y="2715768"/>
            <a:ext cx="777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0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909560" y="3648456"/>
            <a:ext cx="3063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8092440" y="3648456"/>
            <a:ext cx="2057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sensor_18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10104120" y="3648456"/>
            <a:ext cx="777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0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7909560" y="4581144"/>
            <a:ext cx="3063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8092440" y="4581144"/>
            <a:ext cx="2057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sensor_19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10104120" y="4581144"/>
            <a:ext cx="777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0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548640" y="557784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/>
        </p:spPr>
      </p:sp>
      <p:sp>
        <p:nvSpPr>
          <p:cNvPr id="34" name="Text 31"/>
          <p:cNvSpPr/>
          <p:nvPr/>
        </p:nvSpPr>
        <p:spPr>
          <a:xfrm>
            <a:off x="822960" y="55778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variance = zero discriminative power — removed before model training</a:t>
            </a:r>
            <a:endParaRPr lang="en-US" sz="1350" dirty="0"/>
          </a:p>
        </p:txBody>
      </p:sp>
      <p:sp>
        <p:nvSpPr>
          <p:cNvPr id="35" name="Text 3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TURBOFAN RUL · NASA C-MAPSS FD001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30936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384048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Label: Run-to-Failure vs. Truncated Ground Truth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0F4FC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182880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22960" y="21488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 = max_cycle − current_cycle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6517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— engine runs to actual failure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0F4FC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37960" y="182880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537960" y="21488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 = ground_truth + (max_cycle − current_cycle)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537960" y="26517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— trajectory truncated before failure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329184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0F4FC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32918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target capped at 125 cycles (piecewise RUL) — prevents overfitting to flat, pre-degradation regions</a:t>
            </a:r>
            <a:endParaRPr lang="en-US" sz="13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914400" y="4023360"/>
          <a:ext cx="103327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 1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TURBOFAN RUL · NASA C-MAPSS FD001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30936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384048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Split by Engine, Not by Row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783080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28116" y="1783080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16152" y="1783080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504188" y="1783080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792224" y="1783080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080260" y="1783080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368296" y="1783080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656332" y="1783080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944368" y="1783080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32404" y="1783080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0080" y="2071116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28116" y="2071116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216152" y="2071116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504188" y="2071116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792224" y="2071116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080260" y="2071116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368296" y="2071116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656332" y="2071116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944368" y="2071116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232404" y="2071116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40080" y="2359152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28116" y="2359152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216152" y="2359152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504188" y="2359152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792224" y="2359152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080260" y="2359152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368296" y="2359152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656332" y="2359152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944368" y="2359152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232404" y="2359152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40080" y="2647188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28116" y="2647188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216152" y="2647188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504188" y="2647188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792224" y="2647188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080260" y="2647188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368296" y="2647188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656332" y="2647188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944368" y="2647188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3232404" y="2647188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40080" y="2935224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928116" y="2935224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1216152" y="2935224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1504188" y="2935224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1792224" y="2935224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2080260" y="2935224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368296" y="2935224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2656332" y="2935224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2944368" y="2935224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32404" y="2935224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640080" y="3223260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928116" y="3223260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1216152" y="3223260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1504188" y="3223260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1792224" y="3223260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2080260" y="3223260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2368296" y="3223260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2656332" y="3223260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944368" y="3223260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3232404" y="3223260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640080" y="3511296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928116" y="3511296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1216152" y="3511296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1504188" y="3511296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1792224" y="3511296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2080260" y="3511296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2368296" y="3511296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2656332" y="3511296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2944368" y="3511296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3232404" y="3511296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640080" y="3799332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928116" y="3799332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1216152" y="3799332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1504188" y="3799332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1792224" y="3799332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2080260" y="3799332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2368296" y="3799332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2656332" y="3799332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2944368" y="3799332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3232404" y="3799332"/>
            <a:ext cx="246888" cy="2468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640080" y="4087368"/>
            <a:ext cx="246888" cy="246888"/>
          </a:xfrm>
          <a:prstGeom prst="rect">
            <a:avLst/>
          </a:prstGeom>
          <a:solidFill>
            <a:srgbClr val="E8743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928116" y="4087368"/>
            <a:ext cx="246888" cy="246888"/>
          </a:xfrm>
          <a:prstGeom prst="rect">
            <a:avLst/>
          </a:prstGeom>
          <a:solidFill>
            <a:srgbClr val="E8743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1216152" y="4087368"/>
            <a:ext cx="246888" cy="246888"/>
          </a:xfrm>
          <a:prstGeom prst="rect">
            <a:avLst/>
          </a:prstGeom>
          <a:solidFill>
            <a:srgbClr val="E8743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1504188" y="4087368"/>
            <a:ext cx="246888" cy="246888"/>
          </a:xfrm>
          <a:prstGeom prst="rect">
            <a:avLst/>
          </a:prstGeom>
          <a:solidFill>
            <a:srgbClr val="E8743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1792224" y="4087368"/>
            <a:ext cx="246888" cy="246888"/>
          </a:xfrm>
          <a:prstGeom prst="rect">
            <a:avLst/>
          </a:prstGeom>
          <a:solidFill>
            <a:srgbClr val="E8743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2080260" y="4087368"/>
            <a:ext cx="246888" cy="246888"/>
          </a:xfrm>
          <a:prstGeom prst="rect">
            <a:avLst/>
          </a:prstGeom>
          <a:solidFill>
            <a:srgbClr val="E8743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2368296" y="4087368"/>
            <a:ext cx="246888" cy="246888"/>
          </a:xfrm>
          <a:prstGeom prst="rect">
            <a:avLst/>
          </a:prstGeom>
          <a:solidFill>
            <a:srgbClr val="E8743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2656332" y="4087368"/>
            <a:ext cx="246888" cy="246888"/>
          </a:xfrm>
          <a:prstGeom prst="rect">
            <a:avLst/>
          </a:prstGeom>
          <a:solidFill>
            <a:srgbClr val="E8743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2944368" y="4087368"/>
            <a:ext cx="246888" cy="246888"/>
          </a:xfrm>
          <a:prstGeom prst="rect">
            <a:avLst/>
          </a:prstGeom>
          <a:solidFill>
            <a:srgbClr val="E8743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3232404" y="4087368"/>
            <a:ext cx="246888" cy="246888"/>
          </a:xfrm>
          <a:prstGeom prst="rect">
            <a:avLst/>
          </a:prstGeom>
          <a:solidFill>
            <a:srgbClr val="E8743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640080" y="4375404"/>
            <a:ext cx="246888" cy="246888"/>
          </a:xfrm>
          <a:prstGeom prst="rect">
            <a:avLst/>
          </a:prstGeom>
          <a:solidFill>
            <a:srgbClr val="E8743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928116" y="4375404"/>
            <a:ext cx="246888" cy="246888"/>
          </a:xfrm>
          <a:prstGeom prst="rect">
            <a:avLst/>
          </a:prstGeom>
          <a:solidFill>
            <a:srgbClr val="E8743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1216152" y="4375404"/>
            <a:ext cx="246888" cy="246888"/>
          </a:xfrm>
          <a:prstGeom prst="rect">
            <a:avLst/>
          </a:prstGeom>
          <a:solidFill>
            <a:srgbClr val="E8743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1504188" y="4375404"/>
            <a:ext cx="246888" cy="246888"/>
          </a:xfrm>
          <a:prstGeom prst="rect">
            <a:avLst/>
          </a:prstGeom>
          <a:solidFill>
            <a:srgbClr val="E8743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1792224" y="4375404"/>
            <a:ext cx="246888" cy="246888"/>
          </a:xfrm>
          <a:prstGeom prst="rect">
            <a:avLst/>
          </a:prstGeom>
          <a:solidFill>
            <a:srgbClr val="E8743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2080260" y="4375404"/>
            <a:ext cx="246888" cy="246888"/>
          </a:xfrm>
          <a:prstGeom prst="rect">
            <a:avLst/>
          </a:prstGeom>
          <a:solidFill>
            <a:srgbClr val="E8743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2368296" y="4375404"/>
            <a:ext cx="246888" cy="246888"/>
          </a:xfrm>
          <a:prstGeom prst="rect">
            <a:avLst/>
          </a:prstGeom>
          <a:solidFill>
            <a:srgbClr val="E8743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2656332" y="4375404"/>
            <a:ext cx="246888" cy="246888"/>
          </a:xfrm>
          <a:prstGeom prst="rect">
            <a:avLst/>
          </a:prstGeom>
          <a:solidFill>
            <a:srgbClr val="E8743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2944368" y="4375404"/>
            <a:ext cx="246888" cy="246888"/>
          </a:xfrm>
          <a:prstGeom prst="rect">
            <a:avLst/>
          </a:prstGeom>
          <a:solidFill>
            <a:srgbClr val="E8743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3232404" y="4375404"/>
            <a:ext cx="246888" cy="246888"/>
          </a:xfrm>
          <a:prstGeom prst="rect">
            <a:avLst/>
          </a:prstGeom>
          <a:solidFill>
            <a:srgbClr val="E8743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640080" y="4800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1150" dirty="0">
                <a:solidFill>
                  <a:srgbClr val="26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Train Engines      </a:t>
            </a:r>
            <a:pPr indent="0" marL="0">
              <a:buNone/>
            </a:pPr>
            <a:r>
              <a:rPr lang="en-US" sz="115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1150" dirty="0">
                <a:solidFill>
                  <a:srgbClr val="26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Validation Engines</a:t>
            </a:r>
            <a:endParaRPr lang="en-US" sz="1150" dirty="0"/>
          </a:p>
        </p:txBody>
      </p:sp>
      <p:sp>
        <p:nvSpPr>
          <p:cNvPr id="106" name="Shape 103"/>
          <p:cNvSpPr/>
          <p:nvPr/>
        </p:nvSpPr>
        <p:spPr>
          <a:xfrm>
            <a:off x="5029200" y="1783080"/>
            <a:ext cx="6309360" cy="960120"/>
          </a:xfrm>
          <a:prstGeom prst="roundRect">
            <a:avLst>
              <a:gd name="adj" fmla="val 7619"/>
            </a:avLst>
          </a:prstGeom>
          <a:solidFill>
            <a:srgbClr val="F0F4FC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7" name="Text 104"/>
          <p:cNvSpPr/>
          <p:nvPr/>
        </p:nvSpPr>
        <p:spPr>
          <a:xfrm>
            <a:off x="5303520" y="178308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7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16,340</a:t>
            </a:r>
            <a:endParaRPr lang="en-US" sz="3000" dirty="0"/>
          </a:p>
        </p:txBody>
      </p:sp>
      <p:sp>
        <p:nvSpPr>
          <p:cNvPr id="108" name="Text 105"/>
          <p:cNvSpPr/>
          <p:nvPr/>
        </p:nvSpPr>
        <p:spPr>
          <a:xfrm>
            <a:off x="7223760" y="178308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Rows</a:t>
            </a:r>
            <a:endParaRPr lang="en-US" sz="1500" dirty="0"/>
          </a:p>
        </p:txBody>
      </p:sp>
      <p:sp>
        <p:nvSpPr>
          <p:cNvPr id="109" name="Shape 106"/>
          <p:cNvSpPr/>
          <p:nvPr/>
        </p:nvSpPr>
        <p:spPr>
          <a:xfrm>
            <a:off x="5029200" y="2999232"/>
            <a:ext cx="6309360" cy="960120"/>
          </a:xfrm>
          <a:prstGeom prst="roundRect">
            <a:avLst>
              <a:gd name="adj" fmla="val 7619"/>
            </a:avLst>
          </a:prstGeom>
          <a:solidFill>
            <a:srgbClr val="F0F4FC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0" name="Text 107"/>
          <p:cNvSpPr/>
          <p:nvPr/>
        </p:nvSpPr>
        <p:spPr>
          <a:xfrm>
            <a:off x="5303520" y="2999232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7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4,291</a:t>
            </a:r>
            <a:endParaRPr lang="en-US" sz="3000" dirty="0"/>
          </a:p>
        </p:txBody>
      </p:sp>
      <p:sp>
        <p:nvSpPr>
          <p:cNvPr id="111" name="Text 108"/>
          <p:cNvSpPr/>
          <p:nvPr/>
        </p:nvSpPr>
        <p:spPr>
          <a:xfrm>
            <a:off x="7223760" y="2999232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Rows</a:t>
            </a:r>
            <a:endParaRPr lang="en-US" sz="1500" dirty="0"/>
          </a:p>
        </p:txBody>
      </p:sp>
      <p:sp>
        <p:nvSpPr>
          <p:cNvPr id="112" name="Shape 109"/>
          <p:cNvSpPr/>
          <p:nvPr/>
        </p:nvSpPr>
        <p:spPr>
          <a:xfrm>
            <a:off x="5029200" y="4215384"/>
            <a:ext cx="6309360" cy="960120"/>
          </a:xfrm>
          <a:prstGeom prst="roundRect">
            <a:avLst>
              <a:gd name="adj" fmla="val 7619"/>
            </a:avLst>
          </a:prstGeom>
          <a:solidFill>
            <a:srgbClr val="F0F4FC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3" name="Text 110"/>
          <p:cNvSpPr/>
          <p:nvPr/>
        </p:nvSpPr>
        <p:spPr>
          <a:xfrm>
            <a:off x="5303520" y="4215384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7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14" name="Text 111"/>
          <p:cNvSpPr/>
          <p:nvPr/>
        </p:nvSpPr>
        <p:spPr>
          <a:xfrm>
            <a:off x="7223760" y="4215384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Engines</a:t>
            </a:r>
            <a:endParaRPr lang="en-US" sz="1500" dirty="0"/>
          </a:p>
        </p:txBody>
      </p:sp>
      <p:sp>
        <p:nvSpPr>
          <p:cNvPr id="115" name="Shape 112"/>
          <p:cNvSpPr/>
          <p:nvPr/>
        </p:nvSpPr>
        <p:spPr>
          <a:xfrm>
            <a:off x="548640" y="562356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16" name="Text 113"/>
          <p:cNvSpPr/>
          <p:nvPr/>
        </p:nvSpPr>
        <p:spPr>
          <a:xfrm>
            <a:off x="822960" y="56235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fit on the training partition only — no leakage into validation</a:t>
            </a:r>
            <a:endParaRPr lang="en-US" sz="1300" dirty="0"/>
          </a:p>
        </p:txBody>
      </p:sp>
      <p:sp>
        <p:nvSpPr>
          <p:cNvPr id="117" name="Text 11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TURBOFAN RUL · NASA C-MAPSS FD001</a:t>
            </a:r>
            <a:endParaRPr lang="en-US" sz="900" dirty="0"/>
          </a:p>
        </p:txBody>
      </p:sp>
      <p:sp>
        <p:nvSpPr>
          <p:cNvPr id="118" name="Text 115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30936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384048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Architectures, One Question: Distance or Ensemble?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0F4FC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68680" y="20116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2212848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83080" y="2011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K-Nearest Neighbors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1783080" y="24048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Distance-Based Baseline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914400" y="3063240"/>
            <a:ext cx="4617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26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via closest points in feature space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26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local sensor noise in 16-dim space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26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structural assumption about degradation shape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263640" y="169164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DEEE5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83680" y="2011680"/>
            <a:ext cx="731520" cy="73152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221284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98080" y="2011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Regressor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7498080" y="24048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Ensemble — Selected Architecture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6629400" y="3063240"/>
            <a:ext cx="4617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26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trees, max depth 12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26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Averages across decorrelated decision trees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26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Smooths sensor jitter, captures non-linear interactions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TURBOFAN RUL · NASA C-MAPSS FD001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30936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384048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RMSE Is the Metric That Matters Here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0F4FC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7830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7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19.60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731520" y="2606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(cycles)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89120" y="169164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0F4FC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72000" y="17830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7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13.96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4572000" y="2606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(cycles)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229600" y="169164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0F4FC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412480" y="17830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7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0.777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8412480" y="2606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31089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held-out validation engines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356616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0F4FC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2960" y="3822192"/>
            <a:ext cx="566928" cy="566928"/>
          </a:xfrm>
          <a:prstGeom prst="ellipse">
            <a:avLst/>
          </a:prstGeom>
          <a:solidFill>
            <a:srgbClr val="C62828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959352"/>
            <a:ext cx="292608" cy="2926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554480" y="3822192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K-Nearest Neighbors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868680" y="448056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Degrades under sensor noise — local distance metric pulled off-course by spikes in high-dimensional readings.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263640" y="356616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0F4FC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537960" y="3822192"/>
            <a:ext cx="566928" cy="566928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3959352"/>
            <a:ext cx="292608" cy="29260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269480" y="3822192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550" dirty="0"/>
          </a:p>
        </p:txBody>
      </p:sp>
      <p:sp>
        <p:nvSpPr>
          <p:cNvPr id="24" name="Text 19"/>
          <p:cNvSpPr/>
          <p:nvPr/>
        </p:nvSpPr>
        <p:spPr>
          <a:xfrm>
            <a:off x="6583680" y="448056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under noise — ensemble averaging across decorrelated trees smooths fluctuations and dampens spikes.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548640" y="548640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26" name="Text 21"/>
          <p:cNvSpPr/>
          <p:nvPr/>
        </p:nvSpPr>
        <p:spPr>
          <a:xfrm>
            <a:off x="822960" y="5486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is prioritized over MAE: large errors carry outsized operational risk in turbine degradation</a:t>
            </a:r>
            <a:endParaRPr lang="en-US" sz="1350" dirty="0"/>
          </a:p>
        </p:txBody>
      </p:sp>
      <p:sp>
        <p:nvSpPr>
          <p:cNvPr id="27" name="Text 2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TURBOFAN RUL · NASA C-MAPSS FD001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30936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384048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Opening the Black Box: Gini Importance Mapped to Physics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4206240" cy="4069080"/>
          </a:xfrm>
          <a:prstGeom prst="roundRect">
            <a:avLst>
              <a:gd name="adj" fmla="val 1798"/>
            </a:avLst>
          </a:prstGeom>
          <a:solidFill>
            <a:srgbClr val="F0F4FC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" y="196596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26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importance extracted directly from the trained forest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26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mapped back to physical subsystems, not treated as abstract scores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26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 align with thermal and rotational stress — not noise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68680" y="47091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importance values were rendered as a plot in the source notebook; relative ranking is shown here.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74920" y="158191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stress — exhaust gas temperature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74920" y="1965960"/>
            <a:ext cx="5669280" cy="640080"/>
          </a:xfrm>
          <a:prstGeom prst="roundRect">
            <a:avLst>
              <a:gd name="adj" fmla="val 8571"/>
            </a:avLst>
          </a:prstGeom>
          <a:solidFill>
            <a:srgbClr val="E8743B"/>
          </a:solidFill>
          <a:ln/>
        </p:spPr>
      </p:sp>
      <p:sp>
        <p:nvSpPr>
          <p:cNvPr id="10" name="Text 7"/>
          <p:cNvSpPr/>
          <p:nvPr/>
        </p:nvSpPr>
        <p:spPr>
          <a:xfrm>
            <a:off x="5074920" y="272491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Rotational dynamics — HP compressor speed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74920" y="3108960"/>
            <a:ext cx="4572000" cy="640080"/>
          </a:xfrm>
          <a:prstGeom prst="roundRect">
            <a:avLst>
              <a:gd name="adj" fmla="val 8571"/>
            </a:avLst>
          </a:prstGeom>
          <a:solidFill>
            <a:srgbClr val="E8743B"/>
          </a:solidFill>
          <a:ln/>
        </p:spPr>
      </p:sp>
      <p:sp>
        <p:nvSpPr>
          <p:cNvPr id="12" name="Text 9"/>
          <p:cNvSpPr/>
          <p:nvPr/>
        </p:nvSpPr>
        <p:spPr>
          <a:xfrm>
            <a:off x="5074920" y="386791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14 monitored sensors (lower relative weight)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074920" y="4251960"/>
            <a:ext cx="2743200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TURBOFAN RUL · NASA C-MAPSS FD001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30936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384048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Engines Don't Degrade Gradually — They Accelerate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31520" y="1737360"/>
          <a:ext cx="100584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440680" y="2240280"/>
            <a:ext cx="0" cy="2194560"/>
          </a:xfrm>
          <a:prstGeom prst="line">
            <a:avLst/>
          </a:prstGeom>
          <a:noFill/>
          <a:ln w="19050">
            <a:solidFill>
              <a:srgbClr val="5B6B8C"/>
            </a:solidFill>
            <a:prstDash val="dash"/>
          </a:ln>
        </p:spPr>
      </p:sp>
      <p:sp>
        <p:nvSpPr>
          <p:cNvPr id="7" name="Shape 3"/>
          <p:cNvSpPr/>
          <p:nvPr/>
        </p:nvSpPr>
        <p:spPr>
          <a:xfrm>
            <a:off x="4754880" y="228600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8" name="Text 4"/>
          <p:cNvSpPr/>
          <p:nvPr/>
        </p:nvSpPr>
        <p:spPr>
          <a:xfrm>
            <a:off x="4754880" y="2286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~Cycle 90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48640" y="544068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0F4FC"/>
          </a:solidFill>
          <a:ln/>
        </p:spPr>
      </p:sp>
      <p:sp>
        <p:nvSpPr>
          <p:cNvPr id="10" name="Text 6"/>
          <p:cNvSpPr/>
          <p:nvPr/>
        </p:nvSpPr>
        <p:spPr>
          <a:xfrm>
            <a:off x="822960" y="54406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life: </a:t>
            </a:r>
            <a:pPr algn="ctr" indent="0" marL="0">
              <a:buNone/>
            </a:pPr>
            <a:r>
              <a:rPr lang="en-US" sz="1400" dirty="0">
                <a:solidFill>
                  <a:srgbClr val="26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baseline      →      </a:t>
            </a:r>
            <a:pPr algn="ctr" indent="0" marL="0">
              <a:buNone/>
            </a:pPr>
            <a:r>
              <a:rPr lang="en-US" sz="140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life: </a:t>
            </a:r>
            <a:pPr algn="ctr" indent="0" marL="0">
              <a:buNone/>
            </a:pPr>
            <a:r>
              <a:rPr lang="en-US" sz="1400" dirty="0">
                <a:solidFill>
                  <a:srgbClr val="26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 degradation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TURBOFAN RUL · NASA C-MAPSS FD001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30936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384048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RUL Output Into a Maintenance Work Order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78308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2E7D32">
              <a:alpha val="1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2011680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12848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74520" y="192024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 — RUL &gt; 50 cycles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874520" y="2350008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operations. Maintain baseline telemetry monitoring.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40080" y="3227832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C77700">
              <a:alpha val="1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14400" y="3456432"/>
            <a:ext cx="731520" cy="731520"/>
          </a:xfrm>
          <a:prstGeom prst="ellipse">
            <a:avLst/>
          </a:prstGeom>
          <a:solidFill>
            <a:srgbClr val="C7770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657600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874520" y="3364992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7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YELLOW — RUL 21–50 cycles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1874520" y="379476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asset for inspection at next stopover. Pre-order wear components.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640080" y="4672584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C62828">
              <a:alpha val="1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914400" y="4901184"/>
            <a:ext cx="731520" cy="731520"/>
          </a:xfrm>
          <a:prstGeom prst="ellipse">
            <a:avLst/>
          </a:prstGeom>
          <a:solidFill>
            <a:srgbClr val="C62828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102352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874520" y="4809744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— RUL ≤ 20 cycles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1874520" y="5239512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grounding. Avoid in-flight shutdown or core structural failure.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TURBOFAN RUL · NASA C-MAPSS FD001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30936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384048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 the Architecture: What's Next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1828800" y="2834640"/>
            <a:ext cx="850392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463040" y="2468880"/>
            <a:ext cx="731520" cy="73152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660904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28600" y="3429000"/>
            <a:ext cx="3200400" cy="2194560"/>
          </a:xfrm>
          <a:prstGeom prst="roundRect">
            <a:avLst>
              <a:gd name="adj" fmla="val 3333"/>
            </a:avLst>
          </a:prstGeom>
          <a:solidFill>
            <a:srgbClr val="F0F4FC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457200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57200" y="3886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FD001 Baseline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43434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operating condition. End-to-end pipeline validated on held-out engines.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715000" y="2468880"/>
            <a:ext cx="731520" cy="73152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024" y="2660904"/>
            <a:ext cx="347472" cy="34747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480560" y="3429000"/>
            <a:ext cx="3200400" cy="2194560"/>
          </a:xfrm>
          <a:prstGeom prst="roundRect">
            <a:avLst>
              <a:gd name="adj" fmla="val 3333"/>
            </a:avLst>
          </a:prstGeom>
          <a:solidFill>
            <a:srgbClr val="F0F4FC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4709160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4709160" y="3886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Formalize Piecewise Cap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4709160" y="43434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Rigorously test 125 vs. 130-cycle RUL caps rather than a single fixed assumption.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9966960" y="2468880"/>
            <a:ext cx="731520" cy="73152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8984" y="2660904"/>
            <a:ext cx="347472" cy="34747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8732520" y="3429000"/>
            <a:ext cx="3200400" cy="2194560"/>
          </a:xfrm>
          <a:prstGeom prst="roundRect">
            <a:avLst>
              <a:gd name="adj" fmla="val 3333"/>
            </a:avLst>
          </a:prstGeom>
          <a:solidFill>
            <a:srgbClr val="F0F4FC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8961120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8961120" y="3886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Multi-Regime Scaling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8961120" y="43434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FD002 / FD004 — altitude, ambient temperature, and payload variation.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TURBOFAN RUL · NASA C-MAPSS FD001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1188720"/>
            <a:ext cx="9966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turned raw, noisy sensor telemetry into a Remaining Useful Life estimate accurate to within roughly 20 cycles — and one we can explain.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828800" y="329184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9112" y="3502152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206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Accurate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31520" y="4572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19.6 cycles on held-out engines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669280" y="329184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592" y="350215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89120" y="4206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Interpretable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572000" y="4572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Importances trace to known failure physics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9509760" y="329184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072" y="3502152"/>
            <a:ext cx="402336" cy="40233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29600" y="4206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Actionable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8412480" y="4572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directly to a tiered maintenance protocol</a:t>
            </a:r>
            <a:endParaRPr lang="en-US" sz="11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62356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TURBOFAN RUL · NASA C-MAPSS FD001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Predictive Maintenance for Turbofan Engines</dc:title>
  <dc:subject>PptxGenJS Presentation</dc:subject>
  <dc:creator>Samson Mayomi Matthew</dc:creator>
  <cp:lastModifiedBy>Samson Mayomi Matthew</cp:lastModifiedBy>
  <cp:revision>1</cp:revision>
  <dcterms:created xsi:type="dcterms:W3CDTF">2026-06-27T13:52:45Z</dcterms:created>
  <dcterms:modified xsi:type="dcterms:W3CDTF">2026-06-27T13:52:45Z</dcterms:modified>
</cp:coreProperties>
</file>